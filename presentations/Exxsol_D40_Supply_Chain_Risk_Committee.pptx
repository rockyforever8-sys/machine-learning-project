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9144000" cy="7315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Exxsol D40 Supply Chain Risk</a:t>
            </a:r>
          </a:p>
          <a:p>
            <a:r>
              <a:rPr sz="2200" b="0">
                <a:solidFill>
                  <a:srgbClr val="CBE5F0"/>
                </a:solidFill>
                <a:latin typeface="Calibri"/>
              </a:rPr>
              <a:t>Quality Assurance, Traceability &amp; Adulteration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749807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E2E8F0"/>
                </a:solidFill>
                <a:latin typeface="Calibri"/>
              </a:rPr>
              <a:t>Risk Committee Briefing</a:t>
            </a:r>
          </a:p>
          <a:p>
            <a:r>
              <a:rPr sz="1600" b="0">
                <a:solidFill>
                  <a:srgbClr val="E2E8F0"/>
                </a:solidFill>
                <a:latin typeface="Calibri"/>
              </a:rPr>
              <a:t>Industrial Solvent Procurement — Powder Metallurgy Cleaning Application</a:t>
            </a:r>
          </a:p>
          <a:p>
            <a:r>
              <a:rPr sz="1600" b="0">
                <a:solidFill>
                  <a:srgbClr val="E2E8F0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011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Exxsol D40 is a precision-engineered dearomatized hydrocarbon solvent critical to cleaning porous sintered powder metallurgy (PM) components before plating, coating, or assembly.</a:t>
            </a:r>
          </a:p>
          <a:p>
            <a:pPr>
              <a:spcBef>
                <a:spcPts val="200"/>
              </a:spcBef>
              <a:spcAft>
                <a:spcPts val="1011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Rising feedstock costs and Middle East supply volatility have increased incentive for unauthorized traders to adulterate drums — mixing cheaper chemicals (e.g., methylene chloride, methanol) while retaining genuine labels.</a:t>
            </a:r>
          </a:p>
          <a:p>
            <a:pPr>
              <a:spcBef>
                <a:spcPts val="200"/>
              </a:spcBef>
              <a:spcAft>
                <a:spcPts val="1011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Adulteration destroys the narrow distillation profile and flash point that make D40 suitable for PM cleaning — creating fire, HSE, quality, and downstream process failure risks.</a:t>
            </a:r>
          </a:p>
          <a:p>
            <a:pPr>
              <a:spcBef>
                <a:spcPts val="200"/>
              </a:spcBef>
              <a:spcAft>
                <a:spcPts val="1011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Primary defense: authorized distributor sourcing, batch-level Certificate of Analysis (CoA), chain-of-custody traceability, and independent GC-MS verification for critical lots.</a:t>
            </a:r>
          </a:p>
          <a:p>
            <a:pPr>
              <a:spcBef>
                <a:spcPts val="200"/>
              </a:spcBef>
              <a:spcAft>
                <a:spcPts val="1011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Risk Committee decision requested: approve enhanced procurement controls, supplier qualification criteria, and audit/testing budget for solvent integrity assurance.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623560"/>
            <a:ext cx="7955279" cy="59436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002B5C"/>
                </a:solidFill>
                <a:latin typeface="Calibri"/>
              </a:rPr>
              <a:t>Bottom line: A marginally cheaper drum can cost far more in scrap, rework, safety incidents, and regulatory exposure.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154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1.  Business &amp; Technical Context — Why D40 Specifications Matter</a:t>
            </a:r>
          </a:p>
          <a:p>
            <a:pPr>
              <a:spcBef>
                <a:spcPts val="200"/>
              </a:spcBef>
              <a:spcAft>
                <a:spcPts val="154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2.  Boiling Range &amp; Aromatic Content — Engineering Rationale</a:t>
            </a:r>
          </a:p>
          <a:p>
            <a:pPr>
              <a:spcBef>
                <a:spcPts val="200"/>
              </a:spcBef>
              <a:spcAft>
                <a:spcPts val="154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3.  Supply Chain Risk Landscape &amp; Price Pressure</a:t>
            </a:r>
          </a:p>
          <a:p>
            <a:pPr>
              <a:spcBef>
                <a:spcPts val="200"/>
              </a:spcBef>
              <a:spcAft>
                <a:spcPts val="154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4.  Adulteration Threat Model &amp; Operational Impact</a:t>
            </a:r>
          </a:p>
          <a:p>
            <a:pPr>
              <a:spcBef>
                <a:spcPts val="200"/>
              </a:spcBef>
              <a:spcAft>
                <a:spcPts val="154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5.  Distributor QC, Traceability &amp; Anti-Counterfeit Controls</a:t>
            </a:r>
          </a:p>
          <a:p>
            <a:pPr>
              <a:spcBef>
                <a:spcPts val="200"/>
              </a:spcBef>
              <a:spcAft>
                <a:spcPts val="154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6.  Detection Methods &amp; Recommended Governance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BE5F0"/>
                </a:solidFill>
                <a:latin typeface="Calibri"/>
              </a:rPr>
              <a:t>Why Exxsol D40 Is on the Risk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948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Application: degreasing and precision cleaning of sintered PM parts where porosity traps machining oils, waxes, and cutting fluids.</a:t>
            </a:r>
          </a:p>
          <a:p>
            <a:pPr>
              <a:spcBef>
                <a:spcPts val="200"/>
              </a:spcBef>
              <a:spcAft>
                <a:spcPts val="948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Process criticality: residual solvent in pores can block plating adhesion, cause coating defects, or promote in-process corrosion.</a:t>
            </a:r>
          </a:p>
          <a:p>
            <a:pPr>
              <a:spcBef>
                <a:spcPts val="200"/>
              </a:spcBef>
              <a:spcAft>
                <a:spcPts val="948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D40 is selected for: strong solvency, predictable evaporation, low odor/toxicity, and compatibility with metals and many elastomers.</a:t>
            </a:r>
          </a:p>
          <a:p>
            <a:pPr>
              <a:spcBef>
                <a:spcPts val="200"/>
              </a:spcBef>
              <a:spcAft>
                <a:spcPts val="948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Specification sensitivity: D40 is not a commodity solvent — performance depends on tight control of distillation range, flash point, and aromatic content.</a:t>
            </a:r>
          </a:p>
          <a:p>
            <a:pPr>
              <a:spcBef>
                <a:spcPts val="200"/>
              </a:spcBef>
              <a:spcAft>
                <a:spcPts val="948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Supply chain complexity: multiple regional distributors, look-alike products (e.g., generic “Isoparaffin D40”), and relabeled drums increase fraud exposure.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Product Profile — Exxsol D40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822960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4572000"/>
              </a:tblGrid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Typical Specification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Operational Significance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Composition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Dearomatized isoparaffinic hydrocarbon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Low toxicity; mild to polymers</a:t>
                      </a:r>
                    </a:p>
                  </a:txBody>
                  <a:tcPr/>
                </a:tc>
              </a:tr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Distillation (IBP–DP)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~163–187 °C (narrow range)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Consistent drying; no heavy-end residue in pores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Flammable — requires ignition-source controls</a:t>
                      </a:r>
                    </a:p>
                  </a:txBody>
                  <a:tcPr/>
                </a:tc>
              </a:tr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Aromatic content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&lt;0.1% (often &lt;0.001%)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Low odor; reduced HSE risk; clean surface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Density @ 15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~0.775 g/cm³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Batch consistency indicator</a:t>
                      </a:r>
                    </a:p>
                  </a:txBody>
                  <a:tcPr/>
                </a:tc>
              </a:tr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Viscosity @ 25 °C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~1.28 mm²/s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Penetration into porous PM geometry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KB value (solvency)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Controlled removal of oils and greases</a:t>
                      </a:r>
                    </a:p>
                  </a:txBody>
                  <a:tcPr/>
                </a:tc>
              </a:tr>
              <a:tr h="4145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OEL (8-hr TWA)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1,200 mg/m³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~4× higher than white spirit (~300 mg/m³)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Technical Foundation: Boiling 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BE5F0"/>
                </a:solidFill>
                <a:latin typeface="Calibri"/>
              </a:rPr>
              <a:t>Initial Boiling Point (IBP), Dry Point (DP) &amp; Why the Narrow Range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IBP (Initial Boiling Point): temperature at which the first distillate appears — reflects the lightest, most volatile components.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DP (Dry Point): temperature at which the last liquid evaporates — reflects the heaviest, least volatile components.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Boiling range = DP − IBP. D40’s narrow range (~24 °C) means all components evaporate within a tight temperature window.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Predictable drying on high-volume lines — no parts drying too fast (condensation/rust risk) or too slow (bottleneck).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Equipment setpoints (heaters, condensers, vacuum) remain stable — the fluid behaves as a consistent pseudo-single component.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Critical for PM: wide-range solvents leave heavy ends trapped in pores → sticky/oily residue that standard room-temp drying cannot remove.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349240"/>
            <a:ext cx="7955279" cy="68580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002B5C"/>
                </a:solidFill>
                <a:latin typeface="Calibri"/>
              </a:rPr>
              <a:t>Adulteration with low-boiling additives (MC ~40 °C, methanol ~65 °C) collapses this profile — drying becomes unpredictable and residues become inevitable.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Technical Foundation: Low Aromatic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BE5F0"/>
                </a:solidFill>
                <a:latin typeface="Calibri"/>
              </a:rPr>
              <a:t>Dearomatization Is a Performance &amp; Safety Requirement, Not Marketing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Aromatics (benzene, toluene, xylene ring structures) drive odor, toxicity, and aggressive interaction with polymers.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D40 dearomatization (&lt;0.1% aromatics) delivers: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Worker safety: OEL 1,200 mg/m³ vs. 300 (white spirit) and 200 (kerosene) mg/m³.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Material compatibility: reduced swelling/cracking risk for O-rings, seals, and plastic bushings on PM assemblies.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Surface integrity: avoids aromatic film on metal — essential before electroplating, phosphating, PVD, or adhesive bonding.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Regulatory &amp; ESG alignment: lower VOC toxicity profile supports occupational health commitments.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Adulteration does not preserve this profile — even if aromatics are unchanged, added volatiles alter toxicity, flammability, and certification validity.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Product Comparison: D40 vs. D60 / D60(S)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8229600" cy="33467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41833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Exxsol D40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Exxsol D60 / D60(S)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</a:tr>
              <a:tr h="418337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Distillation (IBP–DP)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180–210 °C</a:t>
                      </a:r>
                    </a:p>
                  </a:txBody>
                  <a:tcPr/>
                </a:tc>
              </a:tr>
              <a:tr h="418337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~48 °C (more flammable)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~68 °C (lower flammability)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337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Evaporation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Faster (relative ~higher)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Slower (relative rate ~3, n-BuAc=100)</a:t>
                      </a:r>
                    </a:p>
                  </a:txBody>
                  <a:tcPr/>
                </a:tc>
              </a:tr>
              <a:tr h="418337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KB value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~31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~31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337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Aromatic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&lt;0.1%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&lt;0.1%</a:t>
                      </a:r>
                    </a:p>
                  </a:txBody>
                  <a:tcPr/>
                </a:tc>
              </a:tr>
              <a:tr h="418337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Transport classification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Flammable liquid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Often non-DG for transport (regional)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34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Typical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Fast-dry PM cleaning; tight pore evacuation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Slower dry; higher flash point needs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892040"/>
            <a:ext cx="8138160" cy="502920"/>
          </a:xfrm>
          <a:prstGeom prst="roundRect">
            <a:avLst/>
          </a:prstGeom>
          <a:solidFill>
            <a:srgbClr val="E0F2FE"/>
          </a:solidFill>
          <a:ln w="15875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002B5C"/>
                </a:solidFill>
                <a:latin typeface="Calibri"/>
              </a:rPr>
              <a:t>Note: D60(S) is the same product grade with a supplier-specific designation — not a different formulation.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Supply Chain Risk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Geopolitical driver: Middle East conflict (Iran region) has elevated crude and petrochemical feedstock uncertainty.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Manufacturer action: ExxonMobil announced +$0.06/lb price increase for Exxsol D40 (March 2026).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Market transmission: China terminal reference rose ~5.4% (Apr 2026) and continued upward through mid-2026 (~RMB 9,283/t).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Upstream pressure signal: WD-40 reported up to 100% specialty chemical procurement cost spikes — indicating severe feedstock stress.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Risk implication: widening price spreads between genuine D40 and adulterants (MC, methanol, white spirit) increase fraud incentive.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Procurement trap: “Isoparaffin D40” and relabeled drums can appear visually identical to authentic Exxsol product.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Adulteration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BE5F0"/>
                </a:solidFill>
                <a:latin typeface="Calibri"/>
              </a:rPr>
              <a:t>How Unscrupulous Traders Reduce Cost Per Drum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Motivation: preserve margin under cost pressure by diluting genuine D40 with significantly cheaper solvents.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Common adulterants: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Methylene chloride (MC) — B.P. ~40 °C; sweet/chloroform-like odor; very low cost.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Methanol — B.P. ~65 °C; flash point ~12 °C; readily miscible with hydrocarbons.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White spirit / kerosene — widens boiling range; degrades precision-cleaning performance.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Concealment methods: reuse authentic Exxsol drums and labels; provide falsified or recycled CoA; mask odor with additives.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Detection difficulty: homogeneous mixtures may appear clear and colorless — visual inspection alone is insufficient.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Regulatory status: product adulteration is fraudulent, may breach chemical safety law, and invalidates SDS-based risk assessments.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Impact of Adulteration on Critical Properties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73152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554480"/>
                <a:gridCol w="2103120"/>
                <a:gridCol w="2286000"/>
              </a:tblGrid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Genuine D40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After MC / Methanol Adulteration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Business Impact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Distillation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163–187 °C (narrow)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Evaporation starts ~40 °C; range widens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Inconsistent drying; pore residue</a:t>
                      </a:r>
                    </a:p>
                  </a:txBody>
                  <a:tcPr/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Effectively lowered (methanol ~12 °C)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Elevated fire/explosion risk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Aromatic / HSE 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Certified low-aromatic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Profile invalidated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Worker exposure; compliance breach</a:t>
                      </a:r>
                    </a:p>
                  </a:txBody>
                  <a:tcPr/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Solvency (KB)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~31 (controlled)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Unpredictable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Cleaning failure or part damage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Viscosity / wetting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~1.28 mm²/s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Reduced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Poor pore penetration in PM parts</a:t>
                      </a:r>
                    </a:p>
                  </a:txBody>
                  <a:tcPr/>
                </a:tc>
              </a:tr>
              <a:tr h="4232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Downstream processes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Clean, active surface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Contaminated surface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Plating/coating adhesion failure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Enterprise Risk Exposure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8046720" cy="868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/>
            <a:r>
              <a:rPr sz="1400" b="1">
                <a:solidFill>
                  <a:srgbClr val="B91C1C"/>
                </a:solidFill>
                <a:latin typeface="Calibri"/>
              </a:rPr>
              <a:t>Safety &amp; Regulatory: </a:t>
            </a:r>
            <a:r>
              <a:rPr sz="1300" b="0">
                <a:solidFill>
                  <a:srgbClr val="334155"/>
                </a:solidFill>
                <a:latin typeface="Calibri"/>
              </a:rPr>
              <a:t>Undeclared flammable components (methanol) can violate ATEX/fire codes, invalidate SDS, and increase incident severity.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8046720" cy="868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/>
            <a:r>
              <a:rPr sz="1400" b="1">
                <a:solidFill>
                  <a:srgbClr val="B45309"/>
                </a:solidFill>
                <a:latin typeface="Calibri"/>
              </a:rPr>
              <a:t>Product Quality: </a:t>
            </a:r>
            <a:r>
              <a:rPr sz="1300" b="0">
                <a:solidFill>
                  <a:srgbClr val="334155"/>
                </a:solidFill>
                <a:latin typeface="Calibri"/>
              </a:rPr>
              <a:t>Residue in sintered pores → plating peel-off, coating voids, customer complaints, and warranty claims.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39"/>
            <a:ext cx="8046720" cy="868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/>
            <a:r>
              <a:rPr sz="1400" b="1">
                <a:solidFill>
                  <a:srgbClr val="B45309"/>
                </a:solidFill>
                <a:latin typeface="Calibri"/>
              </a:rPr>
              <a:t>Operational: </a:t>
            </a:r>
            <a:r>
              <a:rPr sz="1300" b="0">
                <a:solidFill>
                  <a:srgbClr val="334155"/>
                </a:solidFill>
                <a:latin typeface="Calibri"/>
              </a:rPr>
              <a:t>Unstable distillation → variable cycle times, increased scrap, and unplanned line stoppages.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51959"/>
            <a:ext cx="8046720" cy="868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/>
            <a:r>
              <a:rPr sz="1400" b="1">
                <a:solidFill>
                  <a:srgbClr val="002B5C"/>
                </a:solidFill>
                <a:latin typeface="Calibri"/>
              </a:rPr>
              <a:t>Financial: </a:t>
            </a:r>
            <a:r>
              <a:rPr sz="1300" b="0">
                <a:solidFill>
                  <a:srgbClr val="334155"/>
                </a:solidFill>
                <a:latin typeface="Calibri"/>
              </a:rPr>
              <a:t>False economy: savings on solvent cost vs. scrap, rework, downtime, and liability exposure.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12079"/>
            <a:ext cx="8046720" cy="868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02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/>
            <a:r>
              <a:rPr sz="1400" b="1">
                <a:solidFill>
                  <a:srgbClr val="002B5C"/>
                </a:solidFill>
                <a:latin typeface="Calibri"/>
              </a:rPr>
              <a:t>Reputational: </a:t>
            </a:r>
            <a:r>
              <a:rPr sz="1300" b="0">
                <a:solidFill>
                  <a:srgbClr val="334155"/>
                </a:solidFill>
                <a:latin typeface="Calibri"/>
              </a:rPr>
              <a:t>Supply chain integrity failure with automotive/industrial customers relying on PPAP-level material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Distributor Quality Control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822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Tier 1 — Authorized sourcing only: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Purchase exclusively through ExxonMobil-verified authorized distributors.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Maintain current authorization letters and annual re-confirmation with manufacturer.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Reject “look-alike” products: generic Isoparaffin D40 ≠ Exxsol D40.</a:t>
            </a:r>
          </a:p>
          <a:p>
            <a:pPr>
              <a:spcBef>
                <a:spcPts val="200"/>
              </a:spcBef>
              <a:spcAft>
                <a:spcPts val="822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Tier 2 — Batch documentation: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Mandatory batch-specific Certificate of Analysis (CoA) before goods receipt.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CoA must confirm: distillation IBP/DP, flash point, density, aromatic content, and product identity.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SDS revision and product code must match purchase order and approved supplier record.</a:t>
            </a:r>
          </a:p>
          <a:p>
            <a:pPr>
              <a:spcBef>
                <a:spcPts val="200"/>
              </a:spcBef>
              <a:spcAft>
                <a:spcPts val="822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Tier 3 — Physical integrity: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Tamper-evident seals; drum condition inspection; label hologram/batch cross-check where available.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Photographic evidence at receipt for critical production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Traceability &amp; Chain of Custody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End-to-end lot tracking: manufacturer batch → distributor invoice → inbound GRN → storage location → dispensing to line.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System requirements: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ERP/material master locked to approved supplier part numbers only.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Barcode/QR on drum linked to CoA PDF and receiving inspection record.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FIFO/FEFO dispensing with lot genealogy traceable to finished part serial/batch.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Supplier audit program: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Annual distributor quality audit (storage, handling, sub-distribution controls).</a:t>
            </a:r>
          </a:p>
          <a:p>
            <a:pPr lvl="1">
              <a:spcBef>
                <a:spcPts val="200"/>
              </a:spcBef>
              <a:spcAft>
                <a:spcPts val="885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Right-to-audit clause in contracts; penalty clauses for documentation falsification.</a:t>
            </a:r>
          </a:p>
          <a:p>
            <a:pPr>
              <a:spcBef>
                <a:spcPts val="200"/>
              </a:spcBef>
              <a:spcAft>
                <a:spcPts val="885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Incident response: quarantine protocol for suspect lots; notify manufacturer; retain retain samples per batch.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486400"/>
            <a:ext cx="7955279" cy="548640"/>
          </a:xfrm>
          <a:prstGeom prst="roundRect">
            <a:avLst/>
          </a:prstGeom>
          <a:solidFill>
            <a:srgbClr val="E0F2FE"/>
          </a:solidFill>
          <a:ln w="15875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002B5C"/>
                </a:solidFill>
                <a:latin typeface="Calibri"/>
              </a:rPr>
              <a:t>Traceability converts a chemical purchase into an auditable control — essential for IATF/PPAP material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Detection &amp; Verification Controls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82296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1463040"/>
                <a:gridCol w="2560320"/>
              </a:tblGrid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002B5C"/>
                    </a:solidFill>
                  </a:tcPr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Incoming CoA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Spec match vs. ExxonMobil datasheet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Every batch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First line of defense</a:t>
                      </a:r>
                    </a:p>
                  </a:txBody>
                  <a:tcPr/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On-site screening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Density, flash point, refractive index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Risk-based / each lot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Rapid anomaly flag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Odor check (screening)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D40 = mild; MC = sweet; methanol = alcoholic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Each drum (trained staff)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Early warning — not definitive</a:t>
                      </a:r>
                    </a:p>
                  </a:txBody>
                  <a:tcPr/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GC-MS analysis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Independent lab fingerprint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Critical lots / quarterly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Definitive adulterant 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32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Supplier scorecard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CoA rejection rate, audit findings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Quarterly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Continuous improvement</a:t>
                      </a:r>
                    </a:p>
                  </a:txBody>
                  <a:tcPr/>
                </a:tc>
              </a:tr>
              <a:tr h="4232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Market intelligence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Price benchmarking vs. authorized list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Flags “too good to be true” offers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Recommended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BE5F0"/>
                </a:solidFill>
                <a:latin typeface="Calibri"/>
              </a:rPr>
              <a:t>Risk Committee Approval Requested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417320"/>
            <a:ext cx="384048" cy="384048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399032"/>
            <a:ext cx="7406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34155"/>
                </a:solidFill>
                <a:latin typeface="Calibri"/>
              </a:rPr>
              <a:t>Approve authorized-distributor-only procurement policy with executive exception process.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167128"/>
            <a:ext cx="384048" cy="384048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7406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34155"/>
                </a:solidFill>
                <a:latin typeface="Calibri"/>
              </a:rPr>
              <a:t>Mandate batch CoA verification and quarantine-until-approved for all D40 receipts.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916936"/>
            <a:ext cx="384048" cy="384048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98648"/>
            <a:ext cx="7406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34155"/>
                </a:solidFill>
                <a:latin typeface="Calibri"/>
              </a:rPr>
              <a:t>Fund independent GC-MS testing program (minimum quarterly + any price anomaly trigger).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666744"/>
            <a:ext cx="384048" cy="384048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648456"/>
            <a:ext cx="7406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34155"/>
                </a:solidFill>
                <a:latin typeface="Calibri"/>
              </a:rPr>
              <a:t>Implement drum-to-dispense digital traceability in ERP within next planning cycle.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4416552"/>
            <a:ext cx="384048" cy="384048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98264"/>
            <a:ext cx="7406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34155"/>
                </a:solidFill>
                <a:latin typeface="Calibri"/>
              </a:rPr>
              <a:t>Conduct distributor audit (storage, labeling, sub-supply controls) within 90 days.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5166360"/>
            <a:ext cx="384048" cy="384048"/>
          </a:xfrm>
          <a:prstGeom prst="ellipse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48072"/>
            <a:ext cx="7406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34155"/>
                </a:solidFill>
                <a:latin typeface="Calibri"/>
              </a:rPr>
              <a:t>Brief operations on flash-point and adulteration risks; update chemical risk assessment.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Governance Decision &amp;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948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Decision sought: Endorse Solvent Integrity Program for Exxsol D40 (policy + testing budget + audit schedule).</a:t>
            </a:r>
          </a:p>
          <a:p>
            <a:pPr>
              <a:spcBef>
                <a:spcPts val="200"/>
              </a:spcBef>
              <a:spcAft>
                <a:spcPts val="948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Accountability: Procurement (sourcing), Quality (CoA &amp; testing), EHS (SDS/flash point), Operations (dispensing traceability).</a:t>
            </a:r>
          </a:p>
          <a:p>
            <a:pPr>
              <a:spcBef>
                <a:spcPts val="200"/>
              </a:spcBef>
              <a:spcAft>
                <a:spcPts val="948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Proposed KPIs:</a:t>
            </a:r>
          </a:p>
          <a:p>
            <a:pPr lvl="1">
              <a:spcBef>
                <a:spcPts val="200"/>
              </a:spcBef>
              <a:spcAft>
                <a:spcPts val="948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100% of D40 lots received with verified CoA before release to production.</a:t>
            </a:r>
          </a:p>
          <a:p>
            <a:pPr lvl="1">
              <a:spcBef>
                <a:spcPts val="200"/>
              </a:spcBef>
              <a:spcAft>
                <a:spcPts val="948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Zero unauthorized suppliers on approved vendor list.</a:t>
            </a:r>
          </a:p>
          <a:p>
            <a:pPr lvl="1">
              <a:spcBef>
                <a:spcPts val="200"/>
              </a:spcBef>
              <a:spcAft>
                <a:spcPts val="948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≥1 independent GC-MS verification per quarter (or per new supplier).</a:t>
            </a:r>
          </a:p>
          <a:p>
            <a:pPr lvl="1">
              <a:spcBef>
                <a:spcPts val="200"/>
              </a:spcBef>
              <a:spcAft>
                <a:spcPts val="948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Mean time to quarantine suspect material &lt; 4 hours of detection.</a:t>
            </a:r>
          </a:p>
          <a:p>
            <a:pPr lvl="1">
              <a:spcBef>
                <a:spcPts val="200"/>
              </a:spcBef>
              <a:spcAft>
                <a:spcPts val="948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Annual distributor audit closure rate 100%.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5532120"/>
            <a:ext cx="7955279" cy="5943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002B5C"/>
                </a:solidFill>
                <a:latin typeface="Calibri"/>
              </a:rPr>
              <a:t>The cost of prevention is a fraction of the cost of a single fire incident, mass scrap event, or customer stop-ship.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Confidential — Risk Committee | Exxsol D40 Supply Chain Integrity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Appendix — Reference Contacts &amp;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200"/>
              </a:spcBef>
              <a:spcAft>
                <a:spcPts val="822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ExxonMobil product data: consult current Exxsol D40 Technical Data Sheet and SDS before use.</a:t>
            </a:r>
          </a:p>
          <a:p>
            <a:pPr>
              <a:spcBef>
                <a:spcPts val="200"/>
              </a:spcBef>
              <a:spcAft>
                <a:spcPts val="822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Authorized distributors (verify current status with ExxonMobil):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Shanghai Huishuo — East/North China (est. 2003)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Sang Hing Hong Group — South China &amp; regional branches</a:t>
            </a:r>
          </a:p>
          <a:p>
            <a:pPr lvl="1">
              <a:spcBef>
                <a:spcPts val="200"/>
              </a:spcBef>
              <a:spcAft>
                <a:spcPts val="822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Additional regional suppliers — require authorization confirmation</a:t>
            </a:r>
          </a:p>
          <a:p>
            <a:pPr>
              <a:spcBef>
                <a:spcPts val="200"/>
              </a:spcBef>
              <a:spcAft>
                <a:spcPts val="822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Validation: run small-scale cleaning trials (time, temperature, agitation) for specific PM parts and contaminants.</a:t>
            </a:r>
          </a:p>
          <a:p>
            <a:pPr>
              <a:spcBef>
                <a:spcPts val="200"/>
              </a:spcBef>
              <a:spcAft>
                <a:spcPts val="822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Regulatory: ensure compliance with local chemical storage, flammability, and occupational exposure regulations.</a:t>
            </a:r>
          </a:p>
          <a:p>
            <a:pPr>
              <a:spcBef>
                <a:spcPts val="200"/>
              </a:spcBef>
              <a:spcAft>
                <a:spcPts val="822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Internal cross-reference: align with PPAP Element 10 (material/test results) and supplier quality requirements.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Appendix —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Questions &amp; Discussion</a:t>
            </a:r>
          </a:p>
          <a:p>
            <a:pPr algn="ctr"/>
            <a:r>
              <a:rPr sz="1800" b="0">
                <a:solidFill>
                  <a:srgbClr val="CBE5F0"/>
                </a:solidFill>
                <a:latin typeface="Calibri"/>
              </a:rPr>
              <a:t>Risk Committee — Exxsol D40 Supply Chain Integrity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