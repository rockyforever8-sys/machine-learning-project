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7680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1414"/>
                </a:solidFill>
                <a:latin typeface="Calibri"/>
              </a:rPr>
              <a:t>Exxsol D40
Supply Chain Risk</a:t>
            </a:r>
          </a:p>
          <a:p>
            <a:pPr>
              <a:spcBef>
                <a:spcPts val="1800"/>
              </a:spcBef>
            </a:pPr>
            <a:r>
              <a:rPr sz="2200" b="0">
                <a:solidFill>
                  <a:srgbClr val="F58220"/>
                </a:solidFill>
                <a:latin typeface="Calibri"/>
              </a:rPr>
              <a:t>Quality  •  Traceability  •  Anti-Adulteration</a:t>
            </a:r>
          </a:p>
          <a:p>
            <a:pPr>
              <a:spcBef>
                <a:spcPts val="1600"/>
              </a:spcBef>
            </a:pPr>
            <a:r>
              <a:rPr sz="1800" b="0">
                <a:solidFill>
                  <a:srgbClr val="5A5A5A"/>
                </a:solidFill>
                <a:latin typeface="Calibri"/>
              </a:rPr>
              <a:t>Risk Committee Briefing  |  Powder Metallurgy Cleaning
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D40 cleans porous PM parts before plating and coating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Cost pressure raises drum adulteration risk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Fake fluid = fire, HSE and quality failures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Defense: authorized supply + CoA + GC-MS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A cheaper drum can cost more than it saves.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724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Why D40 specs
matter</a:t>
            </a:r>
          </a:p>
        </p:txBody>
      </p:sp>
      <p:sp>
        <p:nvSpPr>
          <p:cNvPr id="9" name="Oval 8"/>
          <p:cNvSpPr/>
          <p:nvPr/>
        </p:nvSpPr>
        <p:spPr>
          <a:xfrm>
            <a:off x="356616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Boiling range &amp;
aromatics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79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79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Supply risk &amp;
adulteration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Controls &amp;
actions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49240"/>
            <a:ext cx="1097280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Focus: protect solvent integrity from plant to production 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Why D40 is on the Risk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PM pores trap oils — need residue-free clean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D40: fast dry, low odor, metal-safe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Not a commodity — specs are critical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Look-alike solvents raise fraud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Product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Exxsol D40 key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728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49377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Distillation (IBP–DP)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Uniform drying; no heavy-end residue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Flammable — ignition controls required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Aromatics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&lt;0.1%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Low odor, safer, clean 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OEL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1,200 mg/m³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4× safer than white spirit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KB / viscosity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~31  /  ~1.28 mm²/s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Controlled solvency; pore penetration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Boiling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IBP  •  Dry Point  •  Narrow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IBP = first drop; Dry Point = last drop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Narrow ~24 °C range = predictable drying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Wide range leaves heavy ends in PM pores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MC / methanol collapses the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Adulteration = residue in pores and unstable drying.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Low Aromatics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Dearomatized = engineered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Less odor and toxicity for operators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Safer for seals and elastomers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Clean surface for plating / coating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Adulteration voids the certified profile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vs D60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Same family — different process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Exxsol 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Exxsol D60 / D60(S)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Boiling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180–210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~68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Dry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Slower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PM fast clean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Higher flash-point needs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07492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D60(S) is a supplier designation — not a different formula.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Supply Chain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Price pressure raises fraud incentive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Middle East conflict stresses feedstock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ExxonMobil +$0.06/lb (Mar 2026)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China terminal price +5% and rising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Wide price gap invites adulteration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Do not buy on price alone. Verify the 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Adulteration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How unscrupulous traders cut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Mix cheaper MC and methanol into D40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Reuse genuine drums and fake CoA / labels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Looks clear — visual check is not enough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Illegal — voids SDS and fire-risk assessment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Impact of Fraud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Genuine 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Adulterated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Distillation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Starts ~40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Much lower (methanol ~12 °C)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Cleaning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Controlled, residue-free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Fails or attacks parts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Downstream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Clean active surface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Plating / coating peel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Enterprise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Fire &amp; SDS breach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Plating / coating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Scrap &amp; downtime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372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Reputation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Customer stop-ship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One adulterated lot can hit safety, quality and customer delivery together.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Distributor QC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Three lines of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Buy only ExxonMobil-authorized distributors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Batch CoA before goods receipt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Check IBP, flash point and aromatics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Inspect seals, holograms and drum labels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Chain of custody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Track lot: plant → ISO tank → drum → line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Barcode drum to CoA in ERP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Annual distributor audit + right-to-audit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Quarantine suspect lots in &lt; 4 hours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Detection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Goal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CoA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Every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Match ExxonMobil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On-site screen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Each lot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Density / flash / odor flag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GC-MS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Quarterly + anomalies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Prove purity / ID adulterants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Price check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Spot “too cheap” offers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Recommended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Risk Committee approval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85800" y="1234440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71016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Authorized distributors only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039112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75688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CoA + quarantine all D40 receipts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43784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880360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Fund quarterly GC-MS testing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648456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85031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ERP drum-to-line traceability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53128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4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Distributor audit within 90 days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Governance &amp;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Approve Solvent Integrity Program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100% CoA verified before use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Zero unauthorized suppliers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Quarterly GC-MS minimum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Prevention costs less than one fire, scrap event or stop-ship.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194560"/>
            <a:ext cx="7498079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41414"/>
                </a:solidFill>
                <a:latin typeface="Calibri"/>
              </a:rPr>
              <a:t>Appendix</a:t>
            </a:r>
          </a:p>
          <a:p>
            <a:r>
              <a:rPr sz="2200" b="0">
                <a:solidFill>
                  <a:srgbClr val="F58220"/>
                </a:solidFill>
                <a:latin typeface="Calibri"/>
              </a:rPr>
              <a:t>Supply chain  •  GC-MS quality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Plant  →  ISO tank  →  authorized distributor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supply_hydrocar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338560" cy="4709160"/>
          </a:xfrm>
          <a:prstGeom prst="rect">
            <a:avLst/>
          </a:prstGeom>
        </p:spPr>
      </p:pic>
      <p:pic>
        <p:nvPicPr>
          <p:cNvPr id="8" name="Picture 7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Traceability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Seals, holograms, QR and CoA at every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supply_trace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33856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Repackaging — Highest Risk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Plant fills ISO tanks with sealed, labeled product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Ocean / air move under GPS and manifest control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Distributor repack into drums is the fraud window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Demand: tamper seals, holographic labels, batch CoA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Never accept a drum that cannot be traced back to the ISO-tank lot.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Equipment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Gold-standard identity test for D40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equipm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7452360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234440"/>
            <a:ext cx="374903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GC separates the mix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MS fingerprints each peak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Finds MC, methanol, others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Not visible by eye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How GC-MS Detects Abnormalities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6" name="Picture 5" descr="gcm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05840"/>
            <a:ext cx="74523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1234440"/>
            <a:ext cx="374903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Genuine: even C8–C14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Fake: extra / irregular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Contaminants = fraud signal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Use as lot fingerprint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Peak Findings — This 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Speculative IDs from RT order in a C9–C11 D40 cut  •  confirm vs method + MS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lot_chromato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024128"/>
            <a:ext cx="5257800" cy="41605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05840"/>
          <a:ext cx="598932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48840"/>
                <a:gridCol w="24231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RT (min)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Likely family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QC reading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3.765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C8–C9 light end (IBP)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tiny — not MC / MeOH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7.825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C9 / early-C10 isomers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First body cluster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8.583 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iso / naphthene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Giant — heart of the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9.030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isomer satellite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Should track the 8.583 giant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9.822 / 9.954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C10–C11 isomer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Adjacent boiling 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10.530  ★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 iso / naphthene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2nd giant — ratio vs 8.583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13.179 / 13.545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C11–C12 heavy end (DP)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small — pore-residue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5650992"/>
            <a:ext cx="1133856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Read: two giants (8.583 &amp; 10.530 min) = D40 fingerprint. Growing 3.765 = light adulterant. Growing 13.x = wrong / wide cut.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Peak Findings — D60(S)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Speculative IDs from RT order in a C10–C13 D60 cut  •  confirm vs method + MS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d60_chromato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024128"/>
            <a:ext cx="5257800" cy="41605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05840"/>
          <a:ext cx="5989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057400"/>
                <a:gridCol w="24231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RT (min)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Likely family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QC reading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5.8 – 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light 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Small — lights already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9.237 / 10.140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 isomers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Rising flank of the cut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10.365 / 10.556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C11–C12 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Pre-giant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10.873  ★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C12 iso / naphthene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Giant — heart of D60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11.126 / 11.514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C12 satellites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Should track 10.873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12.5 – 13.2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C13 heavy end (DP)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small — slow dry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5650992"/>
            <a:ext cx="1133856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Read: D60 heart is one mountain at 10.873 min — not D40’s twin giants at 8.58 / 10.53. Envelope starts ~2 min later.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vs D60(S) — Why the Charts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Same GC principle: heavier molecules spend longer on the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lot_chromato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24128"/>
            <a:ext cx="5623560" cy="2331720"/>
          </a:xfrm>
          <a:prstGeom prst="rect">
            <a:avLst/>
          </a:prstGeom>
        </p:spPr>
      </p:pic>
      <p:pic>
        <p:nvPicPr>
          <p:cNvPr id="8" name="Picture 7" descr="gcms_d60_chromatogr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024128"/>
            <a:ext cx="562356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364992"/>
            <a:ext cx="5623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220"/>
                </a:solidFill>
                <a:latin typeface="Calibri"/>
              </a:rPr>
              <a:t>D40  •  giants 8.583 &amp; 10.530 min  •  C9–C11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3364992"/>
            <a:ext cx="5623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220"/>
                </a:solidFill>
                <a:latin typeface="Calibri"/>
              </a:rPr>
              <a:t>D60(S)  •  giant 10.873 min  •  C10–C13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3703320"/>
          <a:ext cx="11384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468880"/>
                <a:gridCol w="2651760"/>
                <a:gridCol w="43434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D60(S)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Logical reason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Envelope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~3.8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~5.8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D60 IBP higher — C8–C9 lights removed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Heart (giant)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8.58 + 10.53 (twin)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10.87 (one mountain)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Cut centered C10/C11 vs C11–C12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Main mass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 – 11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9 – 12.5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BP 163–187 °C vs 180–220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Two tall spikes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Late dense hump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Heavier isomers cluster later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Why GC-MS Matters for QC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Proves the drum is Exxsol D40 — not a look-alike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Identifies MC (~40 °C) and methanol (~65 °C)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Protects flash-point, residue-free dry and worker safety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Creates auditable evidence for IATF / PPAP material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Recommended: GC-MS every critical lot + quarterly random drums.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286000"/>
            <a:ext cx="7498079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41414"/>
                </a:solidFill>
                <a:latin typeface="Calibri"/>
              </a:rPr>
              <a:t>Questions?</a:t>
            </a:r>
          </a:p>
          <a:p>
            <a:r>
              <a:rPr sz="2200" b="0">
                <a:solidFill>
                  <a:srgbClr val="F58220"/>
                </a:solidFill>
                <a:latin typeface="Calibri"/>
              </a:rPr>
              <a:t>Risk Committee  •  Exxsol D40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