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e_sunbu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-365760"/>
            <a:ext cx="3840480" cy="7589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554480"/>
            <a:ext cx="7680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41414"/>
                </a:solidFill>
                <a:latin typeface="Calibri"/>
              </a:rPr>
              <a:t>Exxsol D40
Supply Chain Risk</a:t>
            </a:r>
          </a:p>
          <a:p>
            <a:pPr>
              <a:spcBef>
                <a:spcPts val="1800"/>
              </a:spcBef>
            </a:pPr>
            <a:r>
              <a:rPr sz="2200" b="0">
                <a:solidFill>
                  <a:srgbClr val="F58220"/>
                </a:solidFill>
                <a:latin typeface="Calibri"/>
              </a:rPr>
              <a:t>Quality  •  Traceability  •  Anti-Adulteration</a:t>
            </a:r>
          </a:p>
          <a:p>
            <a:pPr>
              <a:spcBef>
                <a:spcPts val="1600"/>
              </a:spcBef>
            </a:pPr>
            <a:r>
              <a:rPr sz="1800" b="0">
                <a:solidFill>
                  <a:srgbClr val="5A5A5A"/>
                </a:solidFill>
                <a:latin typeface="Calibri"/>
              </a:rPr>
              <a:t>Risk Committee Briefing  |  Powder Metallurgy Cleaning
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263640"/>
            <a:ext cx="1965960" cy="4888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1430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D40 cleans porous PM parts before plating and coating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Cost pressure raises drum adulteration risk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Fake fluid = fire, HSE and quality failures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Defense: authorized supply + CoA + GC-MS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A cheaper drum can cost more than it saves.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77240" y="1828800"/>
            <a:ext cx="2194560" cy="2194560"/>
          </a:xfrm>
          <a:prstGeom prst="ellipse">
            <a:avLst/>
          </a:prstGeom>
          <a:noFill/>
          <a:ln w="50800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58220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3464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41414"/>
                </a:solidFill>
                <a:latin typeface="Calibri"/>
              </a:rPr>
              <a:t>Why D40 specs
matter</a:t>
            </a:r>
          </a:p>
        </p:txBody>
      </p:sp>
      <p:sp>
        <p:nvSpPr>
          <p:cNvPr id="9" name="Oval 8"/>
          <p:cNvSpPr/>
          <p:nvPr/>
        </p:nvSpPr>
        <p:spPr>
          <a:xfrm>
            <a:off x="3566160" y="1828800"/>
            <a:ext cx="2194560" cy="2194560"/>
          </a:xfrm>
          <a:prstGeom prst="ellipse">
            <a:avLst/>
          </a:prstGeom>
          <a:noFill/>
          <a:ln w="50800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58220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83464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41414"/>
                </a:solidFill>
                <a:latin typeface="Calibri"/>
              </a:rPr>
              <a:t>Boiling range &amp;
aromatics</a:t>
            </a:r>
          </a:p>
        </p:txBody>
      </p:sp>
      <p:sp>
        <p:nvSpPr>
          <p:cNvPr id="12" name="Oval 11"/>
          <p:cNvSpPr/>
          <p:nvPr/>
        </p:nvSpPr>
        <p:spPr>
          <a:xfrm>
            <a:off x="6355079" y="1828800"/>
            <a:ext cx="2194560" cy="2194560"/>
          </a:xfrm>
          <a:prstGeom prst="ellipse">
            <a:avLst/>
          </a:prstGeom>
          <a:noFill/>
          <a:ln w="50800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79" y="23317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58220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83464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41414"/>
                </a:solidFill>
                <a:latin typeface="Calibri"/>
              </a:rPr>
              <a:t>Supply risk &amp;
adulteration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0" y="1828800"/>
            <a:ext cx="2194560" cy="2194560"/>
          </a:xfrm>
          <a:prstGeom prst="ellipse">
            <a:avLst/>
          </a:prstGeom>
          <a:noFill/>
          <a:ln w="50800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23317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58220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283464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41414"/>
                </a:solidFill>
                <a:latin typeface="Calibri"/>
              </a:rPr>
              <a:t>Controls &amp;
actions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349240"/>
            <a:ext cx="1097280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Focus: protect solvent integrity from plant to production 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Why D40 is on the Risk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PM pores trap oils — need residue-free clean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D40: fast dry, low odor, metal-safe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Not a commodity — specs are critical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Look-alike solvents raise fraud risk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Product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Exxsol D40 key specifications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143000"/>
          <a:ext cx="109728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49377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Distillation (IBP–DP)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163–187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Uniform drying; no heavy-end residue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Flash point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~48 °C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Flammable — ignition controls required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Aromatics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&lt;0.1%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Low odor, safer, clean surface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OEL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1,200 mg/m³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4× safer than white spirit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KB / viscosity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~31  /  ~1.28 mm²/s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Controlled solvency; pore penetration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Boiling Range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IBP  •  Dry Point  •  Narrow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IBP = first drop; Dry Point = last drop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Narrow ~24 °C range = predictable drying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Wide range leaves heavy ends in PM pores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MC / methanol collapses the profile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Adulteration = residue in pores and unstable drying.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Low Aromatics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Dearomatized = engineered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Less odor and toxicity for operators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Safer for seals and elastomers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Clean surface for plating / coating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Adulteration voids the certified profile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D40 vs D60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Same family — different process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1430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114800"/>
              </a:tblGrid>
              <a:tr h="438912"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Exxsol D40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Exxsol D60 / D60(S)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Boiling range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163–187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180–210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Flash point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~48 °C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~68 °C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Dry speed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Faster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Slower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PM fast clean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41414"/>
                          </a:solidFill>
                          <a:latin typeface="Calibri"/>
                        </a:rPr>
                        <a:t>Higher flash-point needs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07492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D60(S) is a supplier designation — not a different formula.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Supply Chain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Price pressure raises fraud incentive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Middle East conflict stresses feedstock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ExxonMobil +$0.06/lb (Mar 2026)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China terminal price +5% and rising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Wide price gap invites adulteration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Do not buy on price alone. Verify the chain.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Adulteration Threat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How unscrupulous traders cut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Mix cheaper MC and methanol into D40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Reuse genuine drums and fake CoA / labels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Looks clear — visual check is not enough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Illegal — voids SDS and fire-risk assessment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Impact of Fraud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11480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Genuine D40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Adulterated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Distillation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163–187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Starts ~40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Flash point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~48 °C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Much lower (methanol ~12 °C)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Cleaning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Controlled, residue-free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Fails or attacks parts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Downstream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Clean active surface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Plating / coating peel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Enterprise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1463040"/>
            <a:ext cx="2606040" cy="3108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011680"/>
            <a:ext cx="23774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58220"/>
                </a:solidFill>
                <a:latin typeface="Calibri"/>
              </a:rPr>
              <a:t>Safety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23317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141414"/>
                </a:solidFill>
                <a:latin typeface="Calibri"/>
              </a:rPr>
              <a:t>Fire &amp; SDS breach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463040"/>
            <a:ext cx="2606040" cy="3108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2011680"/>
            <a:ext cx="23774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58220"/>
                </a:solidFill>
                <a:latin typeface="Calibri"/>
              </a:rPr>
              <a:t>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2880360"/>
            <a:ext cx="23317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141414"/>
                </a:solidFill>
                <a:latin typeface="Calibri"/>
              </a:rPr>
              <a:t>Plating / coating fail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463040"/>
            <a:ext cx="2606040" cy="3108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2011680"/>
            <a:ext cx="23774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58220"/>
                </a:solidFill>
                <a:latin typeface="Calibri"/>
              </a:rPr>
              <a:t>Operations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880360"/>
            <a:ext cx="23317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141414"/>
                </a:solidFill>
                <a:latin typeface="Calibri"/>
              </a:rPr>
              <a:t>Scrap &amp; downtime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463040"/>
            <a:ext cx="2606040" cy="3108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3728" y="2011680"/>
            <a:ext cx="23774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58220"/>
                </a:solidFill>
                <a:latin typeface="Calibri"/>
              </a:rPr>
              <a:t>Reputation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2880360"/>
            <a:ext cx="23317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141414"/>
                </a:solidFill>
                <a:latin typeface="Calibri"/>
              </a:rPr>
              <a:t>Customer stop-ship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One adulterated lot can hit safety, quality and customer delivery together.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Distributor QC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Three lines of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Buy only ExxonMobil-authorized distributors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Batch CoA before goods receipt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Check IBP, flash point and aromatics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Inspect seals, holograms and drum labels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Traceability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Chain of custody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Track lot: plant → ISO tank → drum → line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Barcode drum to CoA in ERP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Annual distributor audit + right-to-audit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Quarantine suspect lots in &lt; 4 hours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Detection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657600"/>
                <a:gridCol w="411480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Goal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CoA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Every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Match ExxonMobil spec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On-site screen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Each lot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Density / flash / odor flag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GC-MS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Quarterly + anomalies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Prove purity / ID adulterants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Price check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Ongoing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41414"/>
                          </a:solidFill>
                          <a:latin typeface="Calibri"/>
                        </a:rPr>
                        <a:t>Spot “too cheap” offers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Recommended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Risk Committee approval requested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85800" y="1234440"/>
            <a:ext cx="438912" cy="438912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271016"/>
            <a:ext cx="9875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141414"/>
                </a:solidFill>
                <a:latin typeface="Calibri"/>
              </a:rPr>
              <a:t>Authorized distributors only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039112"/>
            <a:ext cx="438912" cy="438912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075688"/>
            <a:ext cx="9875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141414"/>
                </a:solidFill>
                <a:latin typeface="Calibri"/>
              </a:rPr>
              <a:t>CoA + quarantine all D40 receipts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843784"/>
            <a:ext cx="438912" cy="438912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880360"/>
            <a:ext cx="9875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141414"/>
                </a:solidFill>
                <a:latin typeface="Calibri"/>
              </a:rPr>
              <a:t>Fund quarterly GC-MS testing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648456"/>
            <a:ext cx="438912" cy="438912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685031"/>
            <a:ext cx="9875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141414"/>
                </a:solidFill>
                <a:latin typeface="Calibri"/>
              </a:rPr>
              <a:t>ERP drum-to-line traceability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453128"/>
            <a:ext cx="438912" cy="438912"/>
          </a:xfrm>
          <a:prstGeom prst="ellipse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489704"/>
            <a:ext cx="9875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141414"/>
                </a:solidFill>
                <a:latin typeface="Calibri"/>
              </a:rPr>
              <a:t>Distributor audit within 90 days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Governance &amp; KPIs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Approve Solvent Integrity Program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100% CoA verified before use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Zero unauthorized suppliers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600" b="0">
                <a:solidFill>
                  <a:srgbClr val="141414"/>
                </a:solidFill>
                <a:latin typeface="Calibri"/>
              </a:rPr>
              <a:t>Quarterly GC-MS minimum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Prevention costs less than one fire, scrap event or stop-ship.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e_sunbu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-365760"/>
            <a:ext cx="3840480" cy="7589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194560"/>
            <a:ext cx="7498079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141414"/>
                </a:solidFill>
                <a:latin typeface="Calibri"/>
              </a:rPr>
              <a:t>Appendix</a:t>
            </a:r>
          </a:p>
          <a:p>
            <a:r>
              <a:rPr sz="2200" b="0">
                <a:solidFill>
                  <a:srgbClr val="F58220"/>
                </a:solidFill>
                <a:latin typeface="Calibri"/>
              </a:rPr>
              <a:t>Supply chain  •  GC-MS quality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263640"/>
            <a:ext cx="1965960" cy="48889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D40 Supply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Plant  →  ISO tank  →  authorized distributor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7" name="Picture 6" descr="supply_hydrocarb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11338560" cy="4709160"/>
          </a:xfrm>
          <a:prstGeom prst="rect">
            <a:avLst/>
          </a:prstGeom>
        </p:spPr>
      </p:pic>
      <p:pic>
        <p:nvPicPr>
          <p:cNvPr id="8" name="Picture 7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Traceability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Seals, holograms, QR and CoA at every handoff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7" name="Picture 6" descr="supply_trace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11338560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Repackaging — Highest Risk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1430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Plant fills ISO tanks with sealed, labeled product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Ocean / air move under GPS and manifest control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Distributor repack into drums is the fraud window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Demand: tamper seals, holographic labels, batch CoA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Never accept a drum that cannot be traced back to the ISO-tank lot.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GC-MS Equipment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Gold-standard identity test for D40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7" name="Picture 6" descr="gcms_equipm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51560"/>
            <a:ext cx="7452360" cy="4709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46720" y="1234440"/>
            <a:ext cx="374903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GC separates the mix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MS fingerprints each peak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Finds MC, methanol, others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Not visible by eye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How GC-MS Detects Abnormalities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6" name="Picture 5" descr="gcms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05840"/>
            <a:ext cx="745236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1234440"/>
            <a:ext cx="374903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Genuine: even C8–C14 peaks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Fake: extra / irregular peaks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Contaminants = fraud signal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1800" b="0">
                <a:solidFill>
                  <a:srgbClr val="141414"/>
                </a:solidFill>
                <a:latin typeface="Calibri"/>
              </a:rPr>
              <a:t>Use as lot fingerprint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GC-MS Peak Findings — This 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603504"/>
            <a:ext cx="10515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5A5A"/>
                </a:solidFill>
                <a:latin typeface="Calibri"/>
              </a:rPr>
              <a:t>Speculative IDs from RT order in a C9–C11 D40 cut  •  confirm vs method + MS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6" name="Picture 5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pic>
        <p:nvPicPr>
          <p:cNvPr id="7" name="Picture 6" descr="gcms_lot_chromatogr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024128"/>
            <a:ext cx="5257800" cy="41605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005840"/>
          <a:ext cx="598932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48840"/>
                <a:gridCol w="24231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RT (min)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Likely family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QC reading</a:t>
                      </a:r>
                    </a:p>
                  </a:txBody>
                  <a:tcPr>
                    <a:solidFill>
                      <a:srgbClr val="F582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3.765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C8–C9 light end (IBP)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Keep tiny — not MC / MeOH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7.825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C9 / early-C10 isomers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First body cluster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8.583 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C10 iso / naphthene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Giant — heart of the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9.030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C10 isomer satellite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Should track the 8.583 giant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9.822 / 9.954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C10–C11 isomer pair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Adjacent boiling points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10.530  ★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C11 iso / naphthene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2nd giant — ratio vs 8.583</a:t>
                      </a:r>
                    </a:p>
                  </a:txBody>
                  <a:tcPr>
                    <a:solidFill>
                      <a:srgbClr val="F7F7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13.179 / 13.545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C11–C12 heavy end (DP)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Keep small — pore-residue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80" y="5650992"/>
            <a:ext cx="1133856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Read: two giants (8.583 &amp; 10.530 min) = D40 fingerprint. Growing 3.765 = light adulterant. Growing 13.x = wrong / wide cut.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92608"/>
            <a:ext cx="502920" cy="164592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4592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41414"/>
                </a:solidFill>
                <a:latin typeface="Calibri"/>
              </a:rPr>
              <a:t>Why GC-MS Matters for QC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6263640"/>
            <a:ext cx="1965960" cy="488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0972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Proves the drum is Exxsol D40 — not a look-alike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Identifies MC (~40 °C) and methanol (~65 °C) peaks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Protects flash-point, residue-free dry and worker safety</a:t>
            </a:r>
          </a:p>
          <a:p>
            <a:pPr>
              <a:spcBef>
                <a:spcPts val="400"/>
              </a:spcBef>
              <a:spcAft>
                <a:spcPts val="1600"/>
              </a:spcAft>
              <a:buClr>
                <a:srgbClr val="F58220"/>
              </a:buClr>
              <a:buFont typeface="Calibri"/>
              <a:buSzPts val="2800"/>
              <a:buChar char="●"/>
            </a:pPr>
            <a:r>
              <a:rPr sz="2400" b="0">
                <a:solidFill>
                  <a:srgbClr val="141414"/>
                </a:solidFill>
                <a:latin typeface="Calibri"/>
              </a:rPr>
              <a:t>Creates auditable evidence for IATF / PPAP material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8961120" cy="530352"/>
          </a:xfrm>
          <a:prstGeom prst="roundRect">
            <a:avLst/>
          </a:prstGeom>
          <a:solidFill>
            <a:srgbClr val="FDE8D0"/>
          </a:solidFill>
          <a:ln w="15875">
            <a:solidFill>
              <a:srgbClr val="F58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/>
            <a:r>
              <a:rPr sz="1600" b="1">
                <a:solidFill>
                  <a:srgbClr val="141414"/>
                </a:solidFill>
                <a:latin typeface="Calibri"/>
              </a:rPr>
              <a:t>Recommended: GC-MS every critical lot + quarterly random drums.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e_sunbu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-365760"/>
            <a:ext cx="3840480" cy="7589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286000"/>
            <a:ext cx="7498079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141414"/>
                </a:solidFill>
                <a:latin typeface="Calibri"/>
              </a:rPr>
              <a:t>Questions?</a:t>
            </a:r>
          </a:p>
          <a:p>
            <a:r>
              <a:rPr sz="2200" b="0">
                <a:solidFill>
                  <a:srgbClr val="F58220"/>
                </a:solidFill>
                <a:latin typeface="Calibri"/>
              </a:rPr>
              <a:t>Risk Committee  •  Exxsol D40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0" y="6510528"/>
            <a:ext cx="4114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8A8A8A"/>
                </a:solidFill>
                <a:latin typeface="Calibri"/>
              </a:rPr>
              <a:t>Confidential</a:t>
            </a:r>
          </a:p>
        </p:txBody>
      </p:sp>
      <p:pic>
        <p:nvPicPr>
          <p:cNvPr id="5" name="Picture 4" descr="j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263640"/>
            <a:ext cx="1965960" cy="48889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