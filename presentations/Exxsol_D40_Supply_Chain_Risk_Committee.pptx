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1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0"/>
            <a:ext cx="438912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420624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Exxsol D40
Supply Chain Risk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CBE5F0"/>
                </a:solidFill>
                <a:latin typeface="Calibri"/>
              </a:rPr>
              <a:t>Quality • Traceability • Anti-Adulteration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E2E8F0"/>
                </a:solidFill>
                <a:latin typeface="Calibri"/>
              </a:rPr>
              <a:t>Risk Committee Briefing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E2E8F0"/>
                </a:solidFill>
                <a:latin typeface="Calibri"/>
              </a:rPr>
              <a:t>Powder Metallurgy Cleaning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E2E8F0"/>
                </a:solidFill>
                <a:latin typeface="Calibri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pic>
        <p:nvPicPr>
          <p:cNvPr id="4" name="Picture 3" descr="02_execu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306324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234440"/>
            <a:ext cx="51663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D40 cleans porous PM parts before plating/coating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Price pressure drives drum adulteration risk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Fake fluid = fire, HSE &amp; quality failures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Defense: authorized supply + CoA + GC-MS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623560"/>
            <a:ext cx="5166360" cy="658368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002B5C"/>
                </a:solidFill>
                <a:latin typeface="Calibri"/>
              </a:rPr>
              <a:t>Cheap drums cost more than they save.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 — Risk Committee | Exxsol D40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pic>
        <p:nvPicPr>
          <p:cNvPr id="4" name="Picture 3" descr="03_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306324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234440"/>
            <a:ext cx="51663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Why D40 specs matter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Boiling range &amp; aromatics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Supply chain risk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Controls &amp;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 — Risk Committee | Exxsol D40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8321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BE5F0"/>
                </a:solidFill>
                <a:latin typeface="Calibri"/>
              </a:rPr>
              <a:t>Why D40 Is on the Agenda</a:t>
            </a:r>
          </a:p>
        </p:txBody>
      </p:sp>
      <p:pic>
        <p:nvPicPr>
          <p:cNvPr id="5" name="Picture 4" descr="04_busi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3063240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1234440"/>
            <a:ext cx="51663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PM pores trap oils — need residue-free clean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D40: fast dry, low odor, metal-safe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Not a commodity — specs are critical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Look-alike solvents increase fraud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 — Risk Committee | Exxsol D40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Product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8321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BE5F0"/>
                </a:solidFill>
                <a:latin typeface="Calibri"/>
              </a:rPr>
              <a:t>Exxsol D40 Key Specs</a:t>
            </a:r>
          </a:p>
        </p:txBody>
      </p:sp>
      <p:pic>
        <p:nvPicPr>
          <p:cNvPr id="5" name="Picture 4" descr="05_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3063240" cy="48920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234440"/>
          <a:ext cx="5166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371600"/>
                <a:gridCol w="260604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Distillation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163–187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Uniform dry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Flash point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~48 °C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Flammable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Aromatics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&lt;0.1%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Safe, clean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OEL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1200 mg/m³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4× vs white spirit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473952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 — Risk Committee | Exxsol D40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Boiling 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8321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BE5F0"/>
                </a:solidFill>
                <a:latin typeface="Calibri"/>
              </a:rPr>
              <a:t>IBP • Dry Point • Narrow Window</a:t>
            </a:r>
          </a:p>
        </p:txBody>
      </p:sp>
      <p:pic>
        <p:nvPicPr>
          <p:cNvPr id="5" name="Picture 4" descr="06_boi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3063240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1234440"/>
            <a:ext cx="51663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IBP = first drop; DP = last drop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Narrow range = predictable drying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Heavy ends stay in PM pores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MC/methanol breaks the profile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623560"/>
            <a:ext cx="5166360" cy="658368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002B5C"/>
                </a:solidFill>
                <a:latin typeface="Calibri"/>
              </a:rPr>
              <a:t>Adulteration = residue in pores.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 — Risk Committee | Exxsol D40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Low Aromatics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8321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BE5F0"/>
                </a:solidFill>
                <a:latin typeface="Calibri"/>
              </a:rPr>
              <a:t>Dearomatized = Engineered Safety</a:t>
            </a:r>
          </a:p>
        </p:txBody>
      </p:sp>
      <p:pic>
        <p:nvPicPr>
          <p:cNvPr id="5" name="Picture 4" descr="07_aro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3063240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1234440"/>
            <a:ext cx="51663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Less odor &amp; toxicity for workers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Safe for seals &amp; elastomers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Clean surface for plating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Adulteration voids certification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 — Risk Committee | Exxsol D40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D40 vs D60</a:t>
            </a:r>
          </a:p>
        </p:txBody>
      </p:sp>
      <p:pic>
        <p:nvPicPr>
          <p:cNvPr id="4" name="Picture 3" descr="08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3063240" cy="48920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234440"/>
          <a:ext cx="5166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011680"/>
                <a:gridCol w="2057400"/>
              </a:tblGrid>
              <a:tr h="384048">
                <a:tc>
                  <a:txBody>
                    <a:bodyPr/>
                    <a:lstStyle/>
                    <a:p/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D40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D60(S)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Boil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163–187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180–210 °C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Flash point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~48 °C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~68 °C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Dry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Slower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PM fast clean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Higher flash needs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73952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 — Risk Committee | Exxsol D40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Supply Chain Risk</a:t>
            </a:r>
          </a:p>
        </p:txBody>
      </p:sp>
      <p:pic>
        <p:nvPicPr>
          <p:cNvPr id="4" name="Picture 3" descr="09_su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306324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234440"/>
            <a:ext cx="51663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Middle East conflict → feedstock stress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ExxonMobil +$0.06/lb (Mar 2026)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China price +5% and rising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Wide spread = fraud incentive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623560"/>
            <a:ext cx="5166360" cy="658368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002B5C"/>
                </a:solidFill>
                <a:latin typeface="Calibri"/>
              </a:rPr>
              <a:t>Verify — don't buy on price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 — Risk Committee | Exxsol D40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Adulteration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8321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BE5F0"/>
                </a:solidFill>
                <a:latin typeface="Calibri"/>
              </a:rPr>
              <a:t>How Fraud Happens</a:t>
            </a:r>
          </a:p>
        </p:txBody>
      </p:sp>
      <p:pic>
        <p:nvPicPr>
          <p:cNvPr id="5" name="Picture 4" descr="10_adult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3063240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1234440"/>
            <a:ext cx="51663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Traders mix MC &amp; methanol to cut cost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Reuse real drums &amp; fake CoA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Looks clear — hard to spot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Illegal &amp; invalidates SDS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 — Risk Committee | Exxsol D40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Impact of Fraud</a:t>
            </a:r>
          </a:p>
        </p:txBody>
      </p:sp>
      <p:pic>
        <p:nvPicPr>
          <p:cNvPr id="4" name="Picture 3" descr="11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3063240" cy="48920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234440"/>
          <a:ext cx="5166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9659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Genuine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Adulterated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Distillation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163–187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Starts ~40 °C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Flash point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~48 °C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Much lower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Cleaning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Controlled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Downstream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Clean surface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Coating peel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73952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 — Risk Committee | Exxsol D40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Enterprise Risk</a:t>
            </a:r>
          </a:p>
        </p:txBody>
      </p:sp>
      <p:pic>
        <p:nvPicPr>
          <p:cNvPr id="4" name="Picture 3" descr="12_enterpr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3063240" cy="48920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11480" y="1325880"/>
            <a:ext cx="5166360" cy="960120"/>
          </a:xfrm>
          <a:prstGeom prst="roundRect">
            <a:avLst/>
          </a:prstGeom>
          <a:solidFill>
            <a:srgbClr val="F1F5F9"/>
          </a:solidFill>
          <a:ln w="381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B91C1C"/>
                </a:solidFill>
                <a:latin typeface="Calibri"/>
              </a:rPr>
              <a:t>Safety: </a:t>
            </a:r>
            <a:r>
              <a:rPr sz="2000" b="0">
                <a:solidFill>
                  <a:srgbClr val="334155"/>
                </a:solidFill>
                <a:latin typeface="Calibri"/>
              </a:rPr>
              <a:t>Fire &amp; SDS breach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423160"/>
            <a:ext cx="5166360" cy="960120"/>
          </a:xfrm>
          <a:prstGeom prst="roundRect">
            <a:avLst/>
          </a:prstGeom>
          <a:solidFill>
            <a:srgbClr val="F1F5F9"/>
          </a:solidFill>
          <a:ln w="381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B45309"/>
                </a:solidFill>
                <a:latin typeface="Calibri"/>
              </a:rPr>
              <a:t>Quality: </a:t>
            </a:r>
            <a:r>
              <a:rPr sz="2000" b="0">
                <a:solidFill>
                  <a:srgbClr val="334155"/>
                </a:solidFill>
                <a:latin typeface="Calibri"/>
              </a:rPr>
              <a:t>Plating &amp; coating fail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3520439"/>
            <a:ext cx="5166360" cy="960120"/>
          </a:xfrm>
          <a:prstGeom prst="roundRect">
            <a:avLst/>
          </a:prstGeom>
          <a:solidFill>
            <a:srgbClr val="F1F5F9"/>
          </a:solidFill>
          <a:ln w="381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B45309"/>
                </a:solidFill>
                <a:latin typeface="Calibri"/>
              </a:rPr>
              <a:t>Operations: </a:t>
            </a:r>
            <a:r>
              <a:rPr sz="2000" b="0">
                <a:solidFill>
                  <a:srgbClr val="334155"/>
                </a:solidFill>
                <a:latin typeface="Calibri"/>
              </a:rPr>
              <a:t>Scrap &amp; downtime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4617720"/>
            <a:ext cx="5166360" cy="960120"/>
          </a:xfrm>
          <a:prstGeom prst="roundRect">
            <a:avLst/>
          </a:prstGeom>
          <a:solidFill>
            <a:srgbClr val="F1F5F9"/>
          </a:solidFill>
          <a:ln w="381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002B5C"/>
                </a:solidFill>
                <a:latin typeface="Calibri"/>
              </a:rPr>
              <a:t>Reputation: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Customer stop-ship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 — Risk Committee | Exxsol D40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Distributor QC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8321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BE5F0"/>
                </a:solidFill>
                <a:latin typeface="Calibri"/>
              </a:rPr>
              <a:t>Three Lines of Defense</a:t>
            </a:r>
          </a:p>
        </p:txBody>
      </p:sp>
      <p:pic>
        <p:nvPicPr>
          <p:cNvPr id="5" name="Picture 4" descr="13_q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3063240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1234440"/>
            <a:ext cx="51663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Buy only authorized distributors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Batch CoA before receipt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Check IBP, flash, aromatics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Inspect seals &amp; drum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 — Risk Committee | Exxsol D40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Traceability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8321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BE5F0"/>
                </a:solidFill>
                <a:latin typeface="Calibri"/>
              </a:rPr>
              <a:t>Chain of Custody</a:t>
            </a:r>
          </a:p>
        </p:txBody>
      </p:sp>
      <p:pic>
        <p:nvPicPr>
          <p:cNvPr id="5" name="Picture 4" descr="14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3063240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1234440"/>
            <a:ext cx="51663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Track lot: maker → line → part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Barcode drum to CoA in ERP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Annual distributor audit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Quarantine suspect lots fast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 — Risk Committee | Exxsol D40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Detection Controls</a:t>
            </a:r>
          </a:p>
        </p:txBody>
      </p:sp>
      <p:pic>
        <p:nvPicPr>
          <p:cNvPr id="4" name="Picture 3" descr="15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3063240" cy="48920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234440"/>
          <a:ext cx="5166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214884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Goal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CoA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Every batch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Spec match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On-site screen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Each lot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Quick flag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GC-MS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Quarterly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Prove purity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Price check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Ongoing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Spot fraud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73952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 — Risk Committee | Exxsol D40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Recommended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8321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BE5F0"/>
                </a:solidFill>
                <a:latin typeface="Calibri"/>
              </a:rPr>
              <a:t>Approval Requested</a:t>
            </a:r>
          </a:p>
        </p:txBody>
      </p:sp>
      <p:pic>
        <p:nvPicPr>
          <p:cNvPr id="5" name="Picture 4" descr="16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3063240" cy="489204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457200" y="1371600"/>
            <a:ext cx="457200" cy="457200"/>
          </a:xfrm>
          <a:prstGeom prst="ellipse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417320"/>
            <a:ext cx="4480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334155"/>
                </a:solidFill>
                <a:latin typeface="Calibri"/>
              </a:rPr>
              <a:t>Authorized distributors only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286000"/>
            <a:ext cx="4480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334155"/>
                </a:solidFill>
                <a:latin typeface="Calibri"/>
              </a:rPr>
              <a:t>CoA + quarantine all receipts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108960"/>
            <a:ext cx="457200" cy="457200"/>
          </a:xfrm>
          <a:prstGeom prst="ellipse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54680"/>
            <a:ext cx="4480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334155"/>
                </a:solidFill>
                <a:latin typeface="Calibri"/>
              </a:rPr>
              <a:t>Fund quarterly GC-MS testing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23360"/>
            <a:ext cx="4480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334155"/>
                </a:solidFill>
                <a:latin typeface="Calibri"/>
              </a:rPr>
              <a:t>ERP drum-to-line traceability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4846320"/>
            <a:ext cx="457200" cy="457200"/>
          </a:xfrm>
          <a:prstGeom prst="ellipse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92040"/>
            <a:ext cx="4480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334155"/>
                </a:solidFill>
                <a:latin typeface="Calibri"/>
              </a:rPr>
              <a:t>Distributor audit in 90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73952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 — Risk Committee | Exxsol D40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Governance &amp; KPIs</a:t>
            </a:r>
          </a:p>
        </p:txBody>
      </p:sp>
      <p:pic>
        <p:nvPicPr>
          <p:cNvPr id="4" name="Picture 3" descr="17_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306324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234440"/>
            <a:ext cx="51663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Approve Solvent Integrity Program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100% CoA verified before use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Zero unauthorized suppliers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Quarterly GC-MS minimum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623560"/>
            <a:ext cx="5166360" cy="658368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002B5C"/>
                </a:solidFill>
                <a:latin typeface="Calibri"/>
              </a:rPr>
              <a:t>Prevention costs less than one incident.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 — Risk Committee | Exxsol D40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8321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BE5F0"/>
                </a:solidFill>
                <a:latin typeface="Calibri"/>
              </a:rPr>
              <a:t>References</a:t>
            </a:r>
          </a:p>
        </p:txBody>
      </p:sp>
      <p:pic>
        <p:nvPicPr>
          <p:cNvPr id="5" name="Picture 4" descr="18_append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3063240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1234440"/>
            <a:ext cx="51663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Verify distributors with ExxonMobil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Shanghai Huishuo — East/North China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Sang Hing Hong — South China</a:t>
            </a:r>
          </a:p>
          <a:p>
            <a:pPr>
              <a:spcBef>
                <a:spcPts val="400"/>
              </a:spcBef>
              <a:spcAft>
                <a:spcPts val="1400"/>
              </a:spcAft>
            </a:pPr>
            <a:r>
              <a:rPr sz="2400" b="0">
                <a:solidFill>
                  <a:srgbClr val="334155"/>
                </a:solidFill>
                <a:latin typeface="Calibri"/>
              </a:rPr>
              <a:t>• Align with PPAP Element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 — Risk Committee | Exxsol D40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9_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731520"/>
            <a:ext cx="4206240" cy="5303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286000"/>
            <a:ext cx="384048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Questions?</a:t>
            </a:r>
          </a:p>
          <a:p>
            <a:r>
              <a:rPr sz="2200" b="0">
                <a:solidFill>
                  <a:srgbClr val="CBE5F0"/>
                </a:solidFill>
                <a:latin typeface="Calibri"/>
              </a:rPr>
              <a:t>Risk Committee
Exxsol D40 Integrity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